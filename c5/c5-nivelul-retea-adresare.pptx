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Nivelul rețea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IP, IPv4/IPv6, CIDR, Subnetting, VLSM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finalul cursului, studentul poate: - Explica rolul nivelului rețea și diferența MAC vs IP - Identifica tipuri de protocoale la nivel rețea (rutabile vs rutare) - Explica structura de bază a IPv4 și IPv6 și câmpuri cheie (TTL/Hop Limit, Next Header) - Lucra cu CIDR (prefix /n) și calcula: rețea, broadcast, interval host - Face subnetting cu mască fixă (FLSM) și cu mască variabilă (VLSM) în IPv4 - Identifica tipuri de adrese și tipuri de comunicare (unicast, multicast, broadcast/anycast) - Înțelege noțiuni esențiale IPv6: link-local, global, multicast, prescurtări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Funcțiile nivelului rețea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Fragmentarea datagramelor (unde e cazul) și reasamblarea la destinație</a:t>
            </a:r>
          </a:p>
          <a:p>
            <a:pPr lvl="0"/>
            <a:r>
              <a:rPr/>
              <a:t>Rutarea pachetelor de la sursă la destinație</a:t>
            </a:r>
          </a:p>
        </p:txBody>
      </p:sp>
      <p:pic>
        <p:nvPicPr>
          <p:cNvPr descr="assets/images/fig-l3-ro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08500" y="203200"/>
            <a:ext cx="32258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Tipuri de protocoale de nivel rețea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Protocoale rutabile</a:t>
            </a:r>
          </a:p>
          <a:p>
            <a:pPr lvl="1"/>
            <a:r>
              <a:rPr/>
              <a:t>transportă date de la niveluri superioare (ex: IP)</a:t>
            </a:r>
          </a:p>
          <a:p>
            <a:pPr lvl="0"/>
            <a:r>
              <a:rPr/>
              <a:t>Protocoale de rutare</a:t>
            </a:r>
          </a:p>
          <a:p>
            <a:pPr lvl="1"/>
            <a:r>
              <a:rPr/>
              <a:t>ajută la determinarea rutei (ex: OSPF, RIP) (doar mențiune aici)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 ce IP și nu MAC?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MAC (nivel 2): semnificație locală (într-un domeniu L2)</a:t>
            </a:r>
          </a:p>
          <a:p>
            <a:pPr lvl="0"/>
            <a:r>
              <a:rPr/>
              <a:t>IP (nivel 3): semnificație ierarhică (rețea + host), rutabil global</a:t>
            </a:r>
          </a:p>
        </p:txBody>
      </p:sp>
      <p:pic>
        <p:nvPicPr>
          <p:cNvPr descr="assets/images/fig-mac-vs-i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41800" y="203200"/>
            <a:ext cx="3746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IP: ideea de bază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Protocolul fundamental al Internetului</a:t>
            </a:r>
          </a:p>
          <a:p>
            <a:pPr lvl="0"/>
            <a:r>
              <a:rPr/>
              <a:t>Best effort (nu garantează livrare)</a:t>
            </a:r>
          </a:p>
          <a:p>
            <a:pPr lvl="0"/>
            <a:r>
              <a:rPr/>
              <a:t>Adrese logice + rutare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Versiuni 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IPv4: 32 biți, foarte răspândit</a:t>
            </a:r>
          </a:p>
          <a:p>
            <a:pPr lvl="0"/>
            <a:r>
              <a:rPr/>
              <a:t>IPv6: 128 biți, spațiu mare de adrese + simplificări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IPv4 vs IPv6 (comparare rapidă)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IPv6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 biți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 biți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header variabil + checksum header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header fix (extensii) + fără checksum header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broadcast există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broadcast nu există (înlocuit prin multicast)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fragmentare posibilă în rețea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fragmentare doar la sursă (prin extensii)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 des întâlnit în practică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permite din nou end-to-end (în principiu)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Tipuri de comunicare IPv4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Unicast: un host -&gt; un host</a:t>
            </a:r>
          </a:p>
          <a:p>
            <a:pPr lvl="0"/>
            <a:r>
              <a:rPr/>
              <a:t>Multicast: un host -&gt; grup</a:t>
            </a:r>
          </a:p>
          <a:p>
            <a:pPr lvl="0"/>
            <a:r>
              <a:rPr/>
              <a:t>Broadcast: un host -&gt; toate host-urile dintr-un segment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 pachet IPv4 (câmpuri cheie)</a:t>
            </a:r>
          </a:p>
        </p:txBody>
      </p:sp>
      <p:pic>
        <p:nvPicPr>
          <p:cNvPr descr="assets/images/fig-ipv4-hea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79500" y="1193800"/>
            <a:ext cx="6997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IPv4: câmpuri esențiale (partea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Version (4): 4</a:t>
            </a:r>
          </a:p>
          <a:p>
            <a:pPr lvl="0"/>
            <a:r>
              <a:rPr/>
              <a:t>IHL: lungimea header-ului</a:t>
            </a:r>
          </a:p>
          <a:p>
            <a:pPr lvl="0"/>
            <a:r>
              <a:rPr/>
              <a:t>DSCP/ECN: QoS și congestion notification (conceptual)</a:t>
            </a:r>
          </a:p>
          <a:p>
            <a:pPr lvl="0"/>
            <a:r>
              <a:rPr/>
              <a:t>Total Length: header + date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IPv4: câmpuri esențiale (partea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Identification + Flags (DF/MF) + Fragment Offset: fragmentare</a:t>
            </a:r>
          </a:p>
          <a:p>
            <a:pPr lvl="0"/>
            <a:r>
              <a:rPr/>
              <a:t>TTL: scade la fiecare hop, previne bucle infinite</a:t>
            </a:r>
          </a:p>
          <a:p>
            <a:pPr lvl="0"/>
            <a:r>
              <a:rPr/>
              <a:t>Protocol: ce e încapsulat (TCP=6, UDP=17, ICMP=1)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IPv4: câmpuri esențiale (partea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Header Checksum: doar pentru header</a:t>
            </a:r>
          </a:p>
          <a:p>
            <a:pPr lvl="0"/>
            <a:r>
              <a:rPr/>
              <a:t>Source / Destination Address: 32 biți</a:t>
            </a:r>
          </a:p>
          <a:p>
            <a:pPr lvl="0"/>
            <a:r>
              <a:rPr/>
              <a:t>Options: rare în practică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 IPv6 (header fix + extensii)</a:t>
            </a:r>
          </a:p>
        </p:txBody>
      </p:sp>
      <p:pic>
        <p:nvPicPr>
          <p:cNvPr descr="assets/images/fig-ipv6-hea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68400" y="1193800"/>
            <a:ext cx="6807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IPv6: câmpuri esențiale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Version: 6</a:t>
            </a:r>
          </a:p>
          <a:p>
            <a:pPr lvl="0"/>
            <a:r>
              <a:rPr/>
              <a:t>Traffic Class + Flow Label</a:t>
            </a:r>
          </a:p>
          <a:p>
            <a:pPr lvl="0"/>
            <a:r>
              <a:rPr/>
              <a:t>Payload Length</a:t>
            </a:r>
          </a:p>
          <a:p>
            <a:pPr lvl="0"/>
            <a:r>
              <a:rPr/>
              <a:t>Next Header (analog “Protocol”, dar și extensii)</a:t>
            </a:r>
          </a:p>
          <a:p>
            <a:pPr lvl="0"/>
            <a:r>
              <a:rPr/>
              <a:t>Hop Limit (analog TTL)</a:t>
            </a:r>
          </a:p>
          <a:p>
            <a:pPr lvl="0"/>
            <a:r>
              <a:rPr/>
              <a:t>Source/Destination: 128 biți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Adresare IPv4: rețea + host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 adresă IPv4 are:</a:t>
            </a:r>
          </a:p>
          <a:p>
            <a:pPr lvl="1"/>
            <a:r>
              <a:rPr/>
              <a:t>partea de rețea (prefix)</a:t>
            </a:r>
          </a:p>
          <a:p>
            <a:pPr lvl="1"/>
            <a:r>
              <a:rPr/>
              <a:t>partea de host</a:t>
            </a:r>
          </a:p>
          <a:p>
            <a:pPr lvl="0"/>
            <a:r>
              <a:rPr/>
              <a:t>Masca/prefixul separă cele două părți</a:t>
            </a:r>
          </a:p>
        </p:txBody>
      </p:sp>
      <p:pic>
        <p:nvPicPr>
          <p:cNvPr descr="assets/images/fig-prefix-mas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62000"/>
            <a:ext cx="51054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Clase IPv4 (istoric, pentru context)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Model vechi, înlocuit de CIDR</a:t>
            </a:r>
          </a:p>
          <a:p>
            <a:pPr lvl="0"/>
            <a:r>
              <a:rPr/>
              <a:t>Clase A/B/C, D multicast, E rezervat Notă: în practică lucrăm cu CIDR, nu cu clase.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Alocare fără clase</a:t>
            </a:r>
          </a:p>
          <a:p>
            <a:pPr lvl="0"/>
            <a:r>
              <a:rPr/>
              <a:t>Notație /n = număr biți 1 în mască</a:t>
            </a:r>
          </a:p>
          <a:p>
            <a:pPr lvl="0"/>
            <a:r>
              <a:rPr/>
              <a:t>Exemplu: 255.255.0.0 = /16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c5-assets/scenario-cidr-basics/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Subnetting IPv4 (FLSM)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Împărțim o rețea în subrețele egale</a:t>
            </a:r>
          </a:p>
          <a:p>
            <a:pPr lvl="0"/>
            <a:r>
              <a:rPr/>
              <a:t>Luăm biți din partea de host și îi mutăm în prefix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c5-assets/scenario-subnetting-flsm/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VLSM (IPv4)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Subrețele cu mărimi diferite, alocate eficient</a:t>
            </a:r>
          </a:p>
          <a:p>
            <a:pPr lvl="0"/>
            <a:r>
              <a:rPr/>
              <a:t>Pași tipici:</a:t>
            </a:r>
          </a:p>
          <a:p>
            <a:pPr lvl="1" indent="-342900" marL="685800">
              <a:buAutoNum type="arabicParenR"/>
            </a:pPr>
            <a:r>
              <a:rPr/>
              <a:t>sortezi cerințele descrescător (hosts)</a:t>
            </a:r>
          </a:p>
          <a:p>
            <a:pPr lvl="1" indent="-342900" marL="685800">
              <a:buAutoNum type="arabicParenR"/>
            </a:pPr>
            <a:r>
              <a:rPr/>
              <a:t>aloci blocuri de puteri ale lui 2</a:t>
            </a:r>
          </a:p>
          <a:p>
            <a:pPr lvl="1" indent="-342900" marL="685800">
              <a:buAutoNum type="arabicParenR"/>
            </a:pPr>
            <a:r>
              <a:rPr/>
              <a:t>verifici alinierea la prefix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c5-assets/scenario-vlsm/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Adrese speciale IPv4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0.0.0.0 (default / “toate interfețele” în bind)</a:t>
            </a:r>
          </a:p>
          <a:p>
            <a:pPr lvl="0"/>
            <a:r>
              <a:rPr/>
              <a:t>255.255.255.255 (broadcast limitat)</a:t>
            </a:r>
          </a:p>
          <a:p>
            <a:pPr lvl="0"/>
            <a:r>
              <a:rPr/>
              <a:t>loopback: 127.0.0.0/8 (uzual 127.0.0.1)</a:t>
            </a:r>
          </a:p>
          <a:p>
            <a:pPr lvl="0"/>
            <a:r>
              <a:rPr/>
              <a:t>link-local: 169.254.0.0/16</a:t>
            </a:r>
          </a:p>
          <a:p>
            <a:pPr lvl="0"/>
            <a:r>
              <a:rPr/>
              <a:t>private: 10.0.0.0/8, 172.16.0.0/12, 192.168.0.0/16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IPv6: reprezentare și prescurtare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scriere hex, 8 grupuri</a:t>
            </a:r>
          </a:p>
          <a:p>
            <a:pPr lvl="0"/>
            <a:r>
              <a:rPr/>
              <a:t>eliminare zerouri la început de grup</a:t>
            </a:r>
          </a:p>
          <a:p>
            <a:pPr lvl="0"/>
            <a:r>
              <a:rPr/>
              <a:t>o singură compresie cu :: pentru cea mai lungă secvență de 0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c5-assets/scenario-ipv6-shortening/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IPv6: tipuri uzuale de adrese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loopback: ::1</a:t>
            </a:r>
          </a:p>
          <a:p>
            <a:pPr lvl="0"/>
            <a:r>
              <a:rPr/>
              <a:t>global unicast: 2000::/3</a:t>
            </a:r>
          </a:p>
          <a:p>
            <a:pPr lvl="0"/>
            <a:r>
              <a:rPr/>
              <a:t>link-local: fe80::/10</a:t>
            </a:r>
          </a:p>
          <a:p>
            <a:pPr lvl="0"/>
            <a:r>
              <a:rPr/>
              <a:t>multicast: ff00::/8</a:t>
            </a:r>
          </a:p>
          <a:p>
            <a:pPr lvl="0"/>
            <a:r>
              <a:rPr/>
              <a:t>default route: ::/0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Tipuri de comunicare IPv6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unicast</a:t>
            </a:r>
          </a:p>
          <a:p>
            <a:pPr lvl="0"/>
            <a:r>
              <a:rPr/>
              <a:t>multicast</a:t>
            </a:r>
          </a:p>
          <a:p>
            <a:pPr lvl="0"/>
            <a:r>
              <a:rPr/>
              <a:t>anycast (aceeași adresă pe mai multe noduri, ajunge la “cel mai apropiat”)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IPv6 scopes (ideea)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link-local: doar pe link</a:t>
            </a:r>
          </a:p>
          <a:p>
            <a:pPr lvl="0"/>
            <a:r>
              <a:rPr/>
              <a:t>unique local: intern (de obicei)</a:t>
            </a:r>
          </a:p>
          <a:p>
            <a:pPr lvl="0"/>
            <a:r>
              <a:rPr/>
              <a:t>global: rutabil global</a:t>
            </a:r>
          </a:p>
          <a:p>
            <a:pPr lvl="0"/>
            <a:r>
              <a:rPr/>
              <a:t>multicast: scope inclus în adresă (conceptual)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Subnetting în IPv6 (practic)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primești un prefix (ex: /48)</a:t>
            </a:r>
          </a:p>
          <a:p>
            <a:pPr lvl="0"/>
            <a:r>
              <a:rPr/>
              <a:t>aloci subrețele prin extinderea prefixului (frecvent /64 pentru LAN)</a:t>
            </a:r>
          </a:p>
          <a:p>
            <a:pPr lvl="0"/>
            <a:r>
              <a:rPr/>
              <a:t>numărul de subrețele din /48 în /64 este 2^(64-48)=65536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IPv6 în URL-uri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[2001:db8::1]</a:t>
            </a:r>
          </a:p>
          <a:p>
            <a:pPr lvl="0"/>
            <a:r>
              <a:rPr/>
              <a:t>cu port: [2001:db8::1]:8080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Recapitulare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rol L3: adresare + rutare + TTL/Hop Limit</a:t>
            </a:r>
          </a:p>
          <a:p>
            <a:pPr lvl="0"/>
            <a:r>
              <a:rPr/>
              <a:t>IPv4: CIDR + subnetting + VLSM</a:t>
            </a:r>
          </a:p>
          <a:p>
            <a:pPr lvl="0"/>
            <a:r>
              <a:rPr/>
              <a:t>IPv6: tipuri de adrese + prescurtare + prefixe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Pregătire pentru Curs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NAT/PAT, ICMP, DHCP, BOOTP</a:t>
            </a:r>
          </a:p>
          <a:p>
            <a:pPr lvl="0"/>
            <a:r>
              <a:rPr/>
              <a:t>legătura între L2 (ARP) și L3 (IP), apoi L3-&gt;L4 (porturi)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2026-03-20T05:37:39Z</dcterms:created>
  <dcterms:modified xsi:type="dcterms:W3CDTF">2026-03-20T05:37:39Z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