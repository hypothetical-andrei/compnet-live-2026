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D82A4A-6F62-45B2-AA8B-D99CDBC8EE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4B1A07-36FE-48E8-B05A-0466771EB9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91AE6AB-D870-45E7-9AD2-077C3C4664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8FAFFEB-8977-46B0-8DDE-62EB9D882A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BE181E7-58B2-4B39-9F0D-DC3A1819EA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86FFE5A-9961-4A79-81BB-1E868367F5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05D46C2-8518-4964-A2ED-2CD34E8A1E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B5BAA31-8BEB-4BB7-B1E8-6547244E1C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4056E4A-0B60-4123-80B3-1302260164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91B40C1-2A32-4AC3-8201-A29327FF16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9B67D83-B7F7-429A-AA15-F643469CEE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A387B0-98ED-4E38-9F8B-2D5077B3B1C3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23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63779B-D188-4683-9A83-5BBFD9A2F952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18FE78-5E10-4517-ADB8-C139F42E1F17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89A279-9B05-42AC-942F-8102711C026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3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F3988B-DCD8-4143-8A94-305338354F44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085DFA-81C6-46A7-A12A-D9EF15DCE044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99EEDD-D1FE-41D2-A716-171D49187231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7D958A-192F-42BA-9118-78D34556C556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A490C6-A749-4730-A183-DC259A8EE890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CAC249-44A0-4E35-AC56-3DE4CDDD0930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F36530-72D5-438A-980E-2D619C3E4CC7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 cap="all">
                <a:solidFill>
                  <a:schemeClr val="dk1"/>
                </a:solidFill>
                <a:latin typeface="Calibri"/>
              </a:rPr>
              <a:t>Protocoale de rutare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 cap="all">
                <a:solidFill>
                  <a:schemeClr val="dk1"/>
                </a:solidFill>
                <a:latin typeface="Calibri"/>
              </a:rPr>
              <a:t>RIP, EIGRP (context), OSPF (si idei link-state)</a:t>
            </a:r>
            <a:endParaRPr b="0" lang="en-US" sz="3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Obiective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 finalul cursului, studentul poate: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Explica rolul ruterului si ce este “forwarding” vs “routing”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Explica ce contine o tabela de rutare si cum se alege “next hop” - Diferentia rute statice vs dinamice si cand sunt utile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Intelege diferentele distance-vector vs link-state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Explica pe scurt RIP (hop count, timere, probleme tipice)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Explica pe scurt OSPF (LSDB, hello, DR/BDR, SPF/Dijkstra, arii)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Rula exemple: Bellman-Ford, Dijkstra, Mininet cu rutare statica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Ce rol are un ruter?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Un ruter conecteaza doua sau mai multe retele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Primeste pachete si decide pe ce interfata le trimite mai departe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Poate face si functii secundare: filtrare, NAT, QoS, tunelare (context)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Picture 1" descr="assets/images/fig-router-role.png"/>
          <p:cNvPicPr/>
          <p:nvPr/>
        </p:nvPicPr>
        <p:blipFill>
          <a:blip r:embed="rId1"/>
          <a:stretch/>
        </p:blipFill>
        <p:spPr>
          <a:xfrm>
            <a:off x="4152960" y="203040"/>
            <a:ext cx="393660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Routing vs forwarding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Forwarding: decizia locala “ies pe interfata X catre next hop Y”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Routing: cum invat/mentin informatia care alimenteaza forwarding-ul (rute statice sau protocoale)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Procesul de rutare (concept)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Ruterul mentine o tabela de rutare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Pentru fiecare prefix cunoscut: next hop, interfata, metrica, sursa (static/dinamic)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Rutele direct conectate apar automat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Tipuri de rute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Statice (manual):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control precis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simple, bune pentru stub networks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nu sunt scalabile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Dinamice (prin protocoale):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scalabile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Calibri"/>
              </a:rPr>
              <a:t>se adapteaza la defecte (in functie de protocol)</a:t>
            </a:r>
            <a:endParaRPr b="0" lang="en-US" sz="21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Metrici de rutare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hop count (simplu)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latency, bandwidth, reliability, load, cost administrativ (in functie de protocol)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pot exista rute multiple cu aceeasi metrica (ECMP)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Ce se modifica pe traseu (L2 vs L3)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IP sursa/destinatie raman aceleasi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MAC sursa/destinatie se schimba la fiecare hop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TTL/Hop Limit scade la fiecare hop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2" name="Picture 1" descr="assets/images/fig-l2-l3-changes.png"/>
          <p:cNvPicPr/>
          <p:nvPr/>
        </p:nvPicPr>
        <p:blipFill>
          <a:blip r:embed="rId1"/>
          <a:stretch/>
        </p:blipFill>
        <p:spPr>
          <a:xfrm>
            <a:off x="5283360" y="203040"/>
            <a:ext cx="167616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Tabela de rutare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exista si pe host-uri, nu doar pe rutere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se tine in RAM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contine: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direct connected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rute statice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rute dinamice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ruta implicita (default)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5" name="Picture 1" descr="assets/images/fig-routing-table.png"/>
          <p:cNvPicPr/>
          <p:nvPr/>
        </p:nvPicPr>
        <p:blipFill>
          <a:blip r:embed="rId1"/>
          <a:stretch/>
        </p:blipFill>
        <p:spPr>
          <a:xfrm>
            <a:off x="3936960" y="203040"/>
            <a:ext cx="435564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Clasificarea retelelor din perspectiva ruterului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conectate (direct connected)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cunoscute (statice/dinamice)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necunoscute (default sau drop)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Rutare asimetrica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fiecare ruter decide local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nu exista garantie ca drumul dus este identic cu drumul intors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IGP vs EGP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IGP: in interiorul unui sistem autonom (RIP, OSPF, EIGRP, IS-IS)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EGP: intre sisteme autonome (BGP) (doar mentiune aici)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Distance-vector (idea)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ruterul nu stie topologia completa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stie “distanta” catre retele + next hop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update-uri periodice (clasic) sau incrementale (depinde de protocol)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algoritm asociat: Bellman-Ford (conceptual)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4" name="Picture 1" descr="assets/images/fig-distance-vector.png"/>
          <p:cNvPicPr/>
          <p:nvPr/>
        </p:nvPicPr>
        <p:blipFill>
          <a:blip r:embed="rId1"/>
          <a:stretch/>
        </p:blipFill>
        <p:spPr>
          <a:xfrm>
            <a:off x="4521240" y="203040"/>
            <a:ext cx="320004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c7-assets/scenario-bellman-ford/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RIP (Routing Information Protocol)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metrica: hop count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hop count maxim: 15 (16 = infinit)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ruleaza peste UDP 520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RIPv1: fara masca (fara CIDR/VLSM)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RIPv2: include masca, multicast 224.0.0.9, poate avea autentificare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RIPng: pentru IPv6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Problema RIP: routing loops si count-to-infinity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in anumite defecte, rutele “cresc” pana la infinit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mecanisme clasice: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split horizon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route poisoning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holddown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34308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Calibri"/>
              </a:rPr>
              <a:t>timeout/flush</a:t>
            </a: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0" name="Picture 1" descr="assets/images/fig-rip-loop.png"/>
          <p:cNvPicPr/>
          <p:nvPr/>
        </p:nvPicPr>
        <p:blipFill>
          <a:blip r:embed="rId1"/>
          <a:stretch/>
        </p:blipFill>
        <p:spPr>
          <a:xfrm>
            <a:off x="3568680" y="343080"/>
            <a:ext cx="5105160" cy="41144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Mecanisme de evitare a buclelor de rutare (1/4) — Split horizon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Un ruter nu retrimite informatia despre o ruta inapoi pe interfata de pe care a invatat-o.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Exemplu: daca R1 a invatat ca reteaua X e accesibila prin R2, nu ii va anunta lui R2 ca “si eu stiu de X” — R2 deja stie.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Previne bucle simple intre doi vecini.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Mecanisme de evitare a buclelor de rutare (2/4) — Route poisoning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Varianta mai agresiva a split horizon: in loc sa nu trimita ruta, ruterul o trimite cu metrica infinita (hop count = 16 in RIP).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Semnalizeaza explicit ca ruta este down, accelerand convergenta.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Poison reverse = split horizon cu anunt explicit de invaliditate.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Mecanisme de evitare a buclelor de rutare (3/4) — Holddown timer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Dupa ce o ruta devine invalida, ruterul intra in “holddown”: ignora orice update care anunta aceeasi ruta cu o metrica mai mare sau egala, pentru o perioada de timp (ex. 180s in RIP).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Scopul: sa nu accepte informatii vechi sau eronate care circula inca in retea.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Dezavantaj: incetineste convergenta in cazuri legitime de schimbare.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Mecanisme de evitare a buclelor de rutare (4/4) — Timeout si flush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Timeout: daca o ruta nu este confirmata prin update-uri periodice intr-un interval (ex. 180s), este marcata ca invalida (metrica = 16).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Flush: dupa inca un interval (ex. 240s total), ruta este stearsa complet din tabela.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Asigura ca informatia veche nu persista la infinit.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9" name="Picture 1" descr="assets/images/fig-rip-loop.png"/>
          <p:cNvPicPr/>
          <p:nvPr/>
        </p:nvPicPr>
        <p:blipFill>
          <a:blip r:embed="rId1"/>
          <a:stretch/>
        </p:blipFill>
        <p:spPr>
          <a:xfrm>
            <a:off x="3568680" y="343080"/>
            <a:ext cx="5105160" cy="41144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Timere RIP (concept)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update timer (30s): cat de des trimite ruterul update-uri periodice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invalid timer (180s): dupa cat timp fara update o ruta devine invalida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holddown timer (180s): cat timp este ignorata o ruta invalida pentru re-invatare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flush timer (240s): dupa cat timp este stearsa complet din tabela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IGRP si EIGRP (context Cisco)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IGRP (Interior Gateway Routing Protocol)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Protocol Cisco proprietar, aparut ca alternativa la RIP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Metrica compusa: bandwidth, delay, reliability, load (nu doar hop count)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Hop count maxim: 255 (mult mai mare decat RIP)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Inca distance-vector, cu aceleasi probleme de convergenta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- Considerat desuet; inlocuit complet de EIGRP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EIGRP (Enhanced Interior Gateway Routing Protocol)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- Tot Cisco proprietar (partial deschis din 2013, RFC 7868) - Hibrid: combina avantaje distance-vector si link-state - Nu mentine o LSDB completa ca OSPF - Dar converge mult mai rapid decat RIP/IGRP clasic - Algoritm: DUAL (Diffusing Update Algorithm) - Fiecare ruter mentine un “feasible successor” — un next hop de backup pre-calculat - La caderea unei rute, comuta instant pe feasible successor fara re-calcul - Metrica: bandwidth + delay (implicit); poate include reliability si load - Trimite update-uri doar la schimbari (nu periodic), reducand traficul - Suporta VLSM si CIDR; versiuni pentru IPv4 si IPv6 - In practica: folosit in retele Cisco medii/mari unde OSPF e considerat prea complex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Link-state (idea)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fiecare ruter construieste o baza de date cu topologia (LSDB)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calculeaza local rutele optime (SPF)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algoritm asociat: Dijkstra (conceptual)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7" name="Picture 1" descr="assets/images/fig-link-state.png"/>
          <p:cNvPicPr/>
          <p:nvPr/>
        </p:nvPicPr>
        <p:blipFill>
          <a:blip r:embed="rId1"/>
          <a:stretch/>
        </p:blipFill>
        <p:spPr>
          <a:xfrm>
            <a:off x="3568680" y="343080"/>
            <a:ext cx="5105160" cy="408888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c7-assets/scenario-dijkstra/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Calibri"/>
              </a:rPr>
              <a:t>OSPF (Open Shortest Path First)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link-state IGP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foloseste mesaje de tip hello si LSAs (concept)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foloseste multicast (in functie de tipul de retea)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Calibri"/>
              </a:rPr>
              <a:t>imparte reteaua in arii; exista backbone (Area 0)</a:t>
            </a:r>
            <a:endParaRPr b="0" lang="en-US" sz="10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1" name="Picture 1" descr="assets/images/fig-ospf-areas.png"/>
          <p:cNvPicPr/>
          <p:nvPr/>
        </p:nvPicPr>
        <p:blipFill>
          <a:blip r:embed="rId1"/>
          <a:stretch/>
        </p:blipFill>
        <p:spPr>
          <a:xfrm>
            <a:off x="5372280" y="203040"/>
            <a:ext cx="1498320" cy="43812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OSPF: functionare (pe scurt)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hello: descoperire vecini si mentinere adjacency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sincronizare LSDB intre vecini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alegere DR/BDR pe segmente multi-access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calcul rute: SPF (Dijkstra) pe baza LSDB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Unde intra Mininet in curs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folosim o topologie simpla cu 3 rutere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punem adrese si rute statice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inspectam tabelele de rutare si verificam conectivitatea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[SCENARIO] c7-assets/scenario-mininet-routing/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Sisteme autonome (AS)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Un sistem autonom (AS) este un grup de retele IP aflate sub un singur control administrativ (ISP, companie, universitate)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Fiecare AS primeste un numar unic: ASN (Autonomous System Number), alocat de IANA/RIR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Exemple: AS15169 = Google, AS5430 = RCS&amp;RDS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Rutarea </a:t>
            </a:r>
            <a:r>
              <a:rPr b="0" i="1" lang="en-US" sz="2400" spc="-1" strike="noStrike">
                <a:solidFill>
                  <a:schemeClr val="dk1"/>
                </a:solidFill>
                <a:latin typeface="Calibri"/>
              </a:rPr>
              <a:t>in interiorul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unui AS foloseste IGP (RIP, OSPF, EIGRP)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Rutarea </a:t>
            </a:r>
            <a:r>
              <a:rPr b="0" i="1" lang="en-US" sz="2400" spc="-1" strike="noStrike">
                <a:solidFill>
                  <a:schemeClr val="dk1"/>
                </a:solidFill>
                <a:latin typeface="Calibri"/>
              </a:rPr>
              <a:t>intre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AS-uri foloseste EGP — in practica, exclusiv BGP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BGP (Border Gateway Protocol)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Singurul protocol EGP folosit pe Internet astazi (BGP-4, RFC 4271)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Ruleaza peste TCP port 179 — conexiune stabila intre perechi (peers)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Nu calculeaza “cel mai scurt drum” — alege drumul pe baza de politici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Metrica principala: AS-PATH (lista de AS-uri traversate)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Spre deosebire de OSPF/RIP, BGP este un protocol de tip path-vector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BGP: tipuri de sesiuni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eBGP (external BGP)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: intre rutere din AS-uri diferite — de obicei vecini directi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iBGP (internal BGP)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: intre rutere din acelasi AS — distribuie rutele invatate din exterior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Diferenta importanta: rutele iBGP nu sunt redistribuite mai departe automat (no split horizon implicita =&gt; necesita full mesh sau route reflectors)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BGP: atribute si selectia rutei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BGP alege ruta optima pe baza unui sir de atribute, in ordine de prioritate: 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Weight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(Cisco local, nu se propaga) 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Local preference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(preferinta in interiorul AS-ului) 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AS-PATH length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(mai putine AS-uri traversate = mai bun) 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Origin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(IGP &gt; EGP &gt; incomplete) 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MED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(Multi-Exit Discriminator — indicatie pentru AS-ul vecin) 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eBGP &gt; iBGP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-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IGP metric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catre next-hop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BGP: de ce politici, nu metrici?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Pe Internet, decizia de rutare nu este doar tehnica — este si comerciala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Un ISP poate prefera o ruta mai lunga daca trece printr-un partener platit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Poate evita o ruta care trece printr-un concurent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Politicile se implementeaza cu route-maps si prefix-lists pe sesiunile BGP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Acesta este motivul pentru care BGP este separat de IGP-uri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Calibri"/>
              </a:rPr>
              <a:t>Recapitulare</a:t>
            </a:r>
            <a:endParaRPr b="0" lang="en-US" sz="33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rutele statice sunt bune pentru stub si topologii simple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RIP: simplu, hop count, limitari si probleme de convergenta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OSPF: link-state, scalabil, SPF, arii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BGP: alt context (inter-AS)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2026-04-03T05:13:45Z</dcterms:created>
  <dc:creator/>
  <dc:description/>
  <dc:language>en-US</dc:language>
  <cp:lastModifiedBy/>
  <dcterms:modified xsi:type="dcterms:W3CDTF">2026-04-03T11:39:26Z</dcterms:modified>
  <cp:revision>2</cp:revision>
  <dc:subject/>
  <dc:title/>
</cp:coreProperties>
</file>