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y="5143500" cx="9144000"/>
  <p:notesSz cx="7559675" cy="10691800"/>
  <p:embeddedFontLst>
    <p:embeddedFont>
      <p:font typeface="Roboto"/>
      <p:regular r:id="rId42"/>
      <p:bold r:id="rId43"/>
      <p:italic r:id="rId44"/>
      <p:boldItalic r:id="rId45"/>
    </p:embeddedFont>
    <p:embeddedFont>
      <p:font typeface="Merriweather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0" roundtripDataSignature="AMtx7mjI0y2yOJ+Wdvk06BqOkb22Z7vY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font" Target="fonts/Roboto-regular.fntdata"/><Relationship Id="rId41" Type="http://schemas.openxmlformats.org/officeDocument/2006/relationships/slide" Target="slides/slide37.xml"/><Relationship Id="rId44" Type="http://schemas.openxmlformats.org/officeDocument/2006/relationships/font" Target="fonts/Roboto-italic.fntdata"/><Relationship Id="rId43" Type="http://schemas.openxmlformats.org/officeDocument/2006/relationships/font" Target="fonts/Roboto-bold.fntdata"/><Relationship Id="rId46" Type="http://schemas.openxmlformats.org/officeDocument/2006/relationships/font" Target="fonts/Merriweather-regular.fntdata"/><Relationship Id="rId45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Merriweather-italic.fntdata"/><Relationship Id="rId47" Type="http://schemas.openxmlformats.org/officeDocument/2006/relationships/font" Target="fonts/Merriweather-bold.fntdata"/><Relationship Id="rId49" Type="http://schemas.openxmlformats.org/officeDocument/2006/relationships/font" Target="fonts/Merriweather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cfc7a6bc37_0_121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g3cfc7a6bc37_0_121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g3cfc7a6bc37_0_121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g3cfc7a6bc37_0_1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cfc7a6bc37_0_126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g3cfc7a6bc37_0_126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g3cfc7a6bc37_0_126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g3cfc7a6bc37_0_1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cfc7a6bc37_0_131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cfc7a6bc37_0_131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g3cfc7a6bc37_0_131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g3cfc7a6bc37_0_13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g3cfc7a6bc37_0_131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g3cfc7a6bc37_0_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cfc7a6bc37_0_138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cfc7a6bc37_0_13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g3cfc7a6bc37_0_138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g3cfc7a6bc37_0_138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g3cfc7a6bc37_0_1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cfc7a6bc37_0_144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cfc7a6bc37_0_14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g3cfc7a6bc37_0_1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cfc7a6bc37_0_148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cfc7a6bc37_0_148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g3cfc7a6bc37_0_148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g3cfc7a6bc37_0_1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cfc7a6bc37_0_153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g3cfc7a6bc37_0_1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fc7a6bc37_0_156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cfc7a6bc37_0_156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g3cfc7a6bc37_0_156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g3cfc7a6bc37_0_156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g3cfc7a6bc37_0_1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fc7a6bc37_0_162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cfc7a6bc37_0_162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g3cfc7a6bc37_0_1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fc7a6bc37_0_166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g3cfc7a6bc37_0_166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g3cfc7a6bc37_0_1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fc7a6bc37_0_1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fc7a6bc37_0_172"/>
          <p:cNvSpPr txBox="1"/>
          <p:nvPr>
            <p:ph type="title"/>
          </p:nvPr>
        </p:nvSpPr>
        <p:spPr>
          <a:xfrm>
            <a:off x="457200" y="205920"/>
            <a:ext cx="82293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g3cfc7a6bc37_0_172"/>
          <p:cNvSpPr txBox="1"/>
          <p:nvPr>
            <p:ph idx="1" type="body"/>
          </p:nvPr>
        </p:nvSpPr>
        <p:spPr>
          <a:xfrm>
            <a:off x="457200" y="1200240"/>
            <a:ext cx="82293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g3cfc7a6bc37_0_172"/>
          <p:cNvSpPr txBox="1"/>
          <p:nvPr>
            <p:ph idx="11" type="ftr"/>
          </p:nvPr>
        </p:nvSpPr>
        <p:spPr>
          <a:xfrm>
            <a:off x="3124080" y="4767120"/>
            <a:ext cx="28950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cfc7a6bc37_0_172"/>
          <p:cNvSpPr txBox="1"/>
          <p:nvPr>
            <p:ph idx="12" type="sldNum"/>
          </p:nvPr>
        </p:nvSpPr>
        <p:spPr>
          <a:xfrm>
            <a:off x="6553080" y="4767120"/>
            <a:ext cx="21333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g3cfc7a6bc37_0_172"/>
          <p:cNvSpPr txBox="1"/>
          <p:nvPr>
            <p:ph idx="10" type="dt"/>
          </p:nvPr>
        </p:nvSpPr>
        <p:spPr>
          <a:xfrm>
            <a:off x="457200" y="4767120"/>
            <a:ext cx="21333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cfc7a6bc37_0_1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g3cfc7a6bc37_0_1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cfc7a6bc37_0_1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Nivelul fizic si nivelul legatura de date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Obiective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finalul cursului, studentul poate: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Descrie rolul nivelului fizic si limitarile lui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Enumera tipuri de medii de transmisie si proprietati relevante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Explica pe scurt codarea pe linie (NRZ, NRZI, Manchester) si de ce exista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Intelege ideea de modulatie (ASK, FSK, PSK, QAM) la nivel conceptual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Explica rolul LLC si MAC si structura unui cadru (frame)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Intelege Ethernet: adrese MAC, format cadru, coliziuni, CSMA/CD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Intelege WiFi la nivel 2: canale, tipuri de cadre, CSMA/CA, moduri placa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Intelege rolul switch-ului: CAM learning, flooding, aging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Explica VLAN si de ce reduce domeniul de broadcast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>
            <p:ph idx="4294967295"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 suntem in stiva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>
            <p:ph idx="4294967295"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 fizic: semnal si biti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120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 legatura: cadre, MAC, acces la mediu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ages/fig-l1-l2-context.png" id="84" name="Google Shape;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0480" y="203040"/>
            <a:ext cx="3301560" cy="43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Nivelul fizic: rol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Transferul fizic al bitilor pe mediu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Defineste semnalul: electric, optic, radio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Defineste parametrii: rate, sincronizare, conectori, distante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/>
          <p:nvPr>
            <p:ph idx="4294967295"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Medii de transmisie (grosier)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 txBox="1"/>
          <p:nvPr>
            <p:ph idx="4294967295"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Ghidate: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181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cupru: coaxial, torsadat (UTP/STP)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181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fibra optica: single-mode, multi-mode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Neghidate: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181"/>
              </a:spcBef>
              <a:spcAft>
                <a:spcPts val="120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radio: WiFi, LTE (4G), etc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ages/fig-transfer-media.png" id="97" name="Google Shape;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8680" y="1625760"/>
            <a:ext cx="5105160" cy="1549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Proprietati relevante ale mediului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atenuare (scade amplitudinea)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zgomot (interferente)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latime de banda (Hz) vs bitrate (biti/s)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diafonie (crosstalk) pentru cupru, reflexii (signal reflections din schimbare de impedanta)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distanta maxima practica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>
            <p:ph idx="4294967295"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Codare pe linie (line coding): de ce?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 txBox="1"/>
          <p:nvPr>
            <p:ph idx="4294967295"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vrem sincronizare si tranzitii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vrem sa evitam perioade lungi de timp cu un voltaj constant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vrem detectie de erori simple (uneori)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120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exemple: NRZ, NRZI, Manchester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ages/fig-line-coding-overview.png" id="110" name="Google Shape;1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8680" y="1460520"/>
            <a:ext cx="5105160" cy="186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[SCENARIO] assets/scenario-line-coding/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NRZ (Non Return to Zero)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si 0 sunt nivele constante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problema: secvente lungi fara tranzitii -&gt; sincronizare dificila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NRZI (Non Return to Zero Inverted)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produce tranzitie, 0 nu (sau invers, dupa conventie)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imbunatateste sincronizarea pentru anumite date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Manchester encoding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tranzitie in mijlocul bitului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sincronizare buna, dar rata semnalului creste (cost in banda)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/>
          <p:nvPr>
            <p:ph idx="4294967295"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Modulatie (concept)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2"/>
          <p:cNvSpPr txBox="1"/>
          <p:nvPr>
            <p:ph idx="4294967295"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variem o purtatoare: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181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ASK (Amplitude Shift Keying): amplitudine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181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FSK (Frequency Shift Keying): frecventa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181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PSK (Phase Shift Keying): faza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181"/>
              </a:spcBef>
              <a:spcAft>
                <a:spcPts val="120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QAM (Quadrature Amplitude Modulation): combinatie amplitudine + faza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ages/fig-modulation.png" id="140" name="Google Shape;14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8680" y="1257480"/>
            <a:ext cx="5105160" cy="227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la semnal la cadru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L1 livreaza un flux de biti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L2 construieste cadre: delimitare, adresare, CRC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Limitarile nivelului fizic (tranzitie catre L2)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Nivelul fizic nu poate comunica direct cu software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Nivelul fizic nu suporta adresare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Gestioneaza fluxuri simple de biti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Nivelul legatura de date: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1" marL="6858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–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adresare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1" marL="6858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–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unitate structurata: cadru (frame)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1" marL="685800" marR="0" rtl="0" algn="l">
              <a:lnSpc>
                <a:spcPct val="100000"/>
              </a:lnSpc>
              <a:spcBef>
                <a:spcPts val="420"/>
              </a:spcBef>
              <a:spcAft>
                <a:spcPts val="1200"/>
              </a:spcAft>
              <a:buClr>
                <a:srgbClr val="000000"/>
              </a:buClr>
              <a:buSzPts val="2100"/>
              <a:buFont typeface="Arial"/>
              <a:buChar char="–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servicii de acces la mediu pentru straturile superioare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idx="4294967295"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Structura nivelului de legatura de date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 txBox="1"/>
          <p:nvPr>
            <p:ph idx="4294967295"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Doua subniveluri: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181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LLC (Logical Link Control): interfata spre software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3080" marR="0" rtl="0" algn="l">
              <a:lnSpc>
                <a:spcPct val="100000"/>
              </a:lnSpc>
              <a:spcBef>
                <a:spcPts val="181"/>
              </a:spcBef>
              <a:spcAft>
                <a:spcPts val="120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(Media Access Control): interfata spre hardware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ages/fig-llc-mac.png" id="159" name="Google Shape;1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080" y="203040"/>
            <a:ext cx="1409400" cy="43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LLC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IEEE 802.2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independent de mediul fizic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flux (unde e cazul)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multiplexare pentru protocoale superioare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acces la mediu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construieste cadrele efective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dependenta de tehnologie (Ethernet vs WiFi)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Functii MAC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delimitare cadre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adresare sursa/destinatie (MAC)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 transparent al PDU-urilor LLC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detectie erori (CRC)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acces la mediu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idx="4294967295"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Incapsulare la nivel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>
            <p:ph idx="4294967295"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impachetarea datelor in cadru (frame)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120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formatul depinde de tehnologie, dar campurile sunt similare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ages/fig-l2-encapsulation.png"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320" y="203040"/>
            <a:ext cx="2958840" cy="43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Campuri tipice intr-un cadru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cadru (preambul / delimitator)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adrese MAC sursa si destinatie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tip/lungime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(payload)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CRC / FCS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 mai raspandit nivel 2 (IEEE 802.3)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mediu: cupru (istoric coaxial, apoi torsadat), si fibra in multe scenarii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variante: 10BaseT, 100BaseT, 1000BaseT etc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Formatul cadrului Ethernet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ages/fig-ethernet-frame.png" id="202" name="Google Shape;2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5760" y="1193760"/>
            <a:ext cx="1739520" cy="339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Adrese MAC (48 biti)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OUI (24 biti) + identificator interfata (24 biti)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broadcast local: FF:FF:FF:FF:FF:FF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adrese local-administered: bit specific setat in primul octet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[SCENARIO] assets/scenario-mac-arp-ethernet/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idx="4294967295"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Coliziuni in Ethernet (istoric si concept)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4"/>
          <p:cNvSpPr txBox="1"/>
          <p:nvPr>
            <p:ph idx="4294967295"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apar cand doua noduri transmit simultan pe acelasi mediu partajat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CSMA/CD: asculta mediul, detecteaza coliziuni, backoff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120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full-duplex cu switch: coliziunile dispar practic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ages/fig-csma-cd.png" id="215" name="Google Shape;2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3920" y="203040"/>
            <a:ext cx="4787640" cy="43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 probleme la nivel 2 (Ethernet)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switching loops -&gt; broadcast storms (nu exista TTL la L2)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jabber (cadre prea mari)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runt frames (cadre prea mici)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idx="4294967295"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WiFi (IEEE 802.11)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6"/>
          <p:cNvSpPr txBox="1"/>
          <p:nvPr>
            <p:ph idx="4294967295"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mediu: aer (unde radio)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benzi uzuale: 2.4 GHz, 5 GHz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120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canale: pot fi suprapuse sau ne-suprapuse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ages/fig-wifi-channels-24ghz.png" id="228" name="Google Shape;2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7840" y="203040"/>
            <a:ext cx="3619080" cy="43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Cadre WiFi (tipuri)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7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/>
          <p:nvPr>
            <p:ph idx="4294967295"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Structura cadrului WiFi (concept)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8"/>
          <p:cNvSpPr txBox="1"/>
          <p:nvPr>
            <p:ph idx="4294967295"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control: versiune, tip, subtip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ToDS/FromDS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adrese (in functie de scenariu)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120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FCS la final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ages/fig-wifi-frame-concept.png" id="241" name="Google Shape;24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3360" y="203040"/>
            <a:ext cx="1663200" cy="43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/>
          <p:nvPr>
            <p:ph idx="4294967295"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Coliziuni in WiFi si CSMA/CA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9"/>
          <p:cNvSpPr txBox="1"/>
          <p:nvPr>
            <p:ph idx="4294967295"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coliziuni exista frecvent (mediul e partajat)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120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CSMA/CA: asculta, asteapta random, optional RTS/CTS, apoi asteapta confirmare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ages/fig-csma-ca.png" id="248" name="Google Shape;24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0040" y="203040"/>
            <a:ext cx="3669840" cy="43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Moduri de functionare ale placilor WiFi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0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managed (client)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 (access point)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 cu VLAN tagging (AP-tag)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WiFi P2P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 (sniffing la nivel 2)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Autentificare in WiFi (high level)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1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WEP (depasit)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WPA (depasit)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WPA2 (foarte raspandit)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WPA3 (adoptie)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Switch-uri: repetor vs bridge vs switch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2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repetor: amplifica semnalul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bridge: filtreaza minim, decizii simple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switch: comutare pe baza de MAC (circuite virtuale)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"/>
          <p:cNvSpPr txBox="1"/>
          <p:nvPr>
            <p:ph idx="4294967295"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 (MAC learning)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3"/>
          <p:cNvSpPr txBox="1"/>
          <p:nvPr>
            <p:ph idx="4294967295"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tabela: MAC -&gt; 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invata din sursa cadrelor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120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daca nu stie destinatia: flooding pe toate porturile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ages/fig-switch-cam-learning.png" id="273" name="Google Shape;27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8680" y="800280"/>
            <a:ext cx="5105160" cy="317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 aging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4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intrarile expira daca nu sunt folosite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previne asocierea gresita dupa mutarea unui host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5"/>
          <p:cNvSpPr txBox="1"/>
          <p:nvPr>
            <p:ph idx="4294967295"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5"/>
          <p:cNvSpPr txBox="1"/>
          <p:nvPr>
            <p:ph idx="4294967295"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imparte o retea fizica in retele logice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fiecare VLAN = domeniu de broadcast distinct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"/>
              </a:spcBef>
              <a:spcAft>
                <a:spcPts val="120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tagging (802.1Q) pe trunk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ages/fig-vlan.png" id="286" name="Google Shape;28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8680" y="1270080"/>
            <a:ext cx="5105160" cy="2247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6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Recapitulare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6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L1: mediu, semnal, codare, modulatie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L2: cadre, MAC/LLC, CRC, acces la mediu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 vs WiFi: CSMA/CD vs CSMA/CA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Switch: CAM learning + flooding + aging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VLAN: segmentare si broadcast domain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Pregatire pentru Curs 5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7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Nivelul retea: IP, adresare, subnetting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Diferenta: MAC (flat) vs IP (ierarhic)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2026-03-13T05:25:38Z</dcterms:created>
</cp:coreProperties>
</file>